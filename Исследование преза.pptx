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304" r:id="rId5"/>
    <p:sldId id="306" r:id="rId6"/>
    <p:sldId id="298" r:id="rId7"/>
    <p:sldId id="309" r:id="rId8"/>
    <p:sldId id="310" r:id="rId9"/>
    <p:sldId id="311" r:id="rId10"/>
    <p:sldId id="287" r:id="rId11"/>
    <p:sldId id="312" r:id="rId12"/>
    <p:sldId id="313" r:id="rId13"/>
    <p:sldId id="314" r:id="rId14"/>
    <p:sldId id="315" r:id="rId15"/>
    <p:sldId id="316" r:id="rId16"/>
    <p:sldId id="317" r:id="rId17"/>
    <p:sldId id="305" r:id="rId18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  <p15:guide id="17" pos="3341" userDrawn="1">
          <p15:clr>
            <a:srgbClr val="A4A3A4"/>
          </p15:clr>
        </p15:guide>
        <p15:guide id="18" orient="horz" pos="10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2D69"/>
    <a:srgbClr val="029C63"/>
    <a:srgbClr val="96628C"/>
    <a:srgbClr val="11A0D7"/>
    <a:srgbClr val="E61F3D"/>
    <a:srgbClr val="CD5A5A"/>
    <a:srgbClr val="FFD746"/>
    <a:srgbClr val="0E2D69"/>
    <a:srgbClr val="D9D9D9"/>
    <a:srgbClr val="EB68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60"/>
    <p:restoredTop sz="94746"/>
  </p:normalViewPr>
  <p:slideViewPr>
    <p:cSldViewPr snapToGrid="0" snapToObjects="1">
      <p:cViewPr varScale="1">
        <p:scale>
          <a:sx n="151" d="100"/>
          <a:sy n="151" d="100"/>
        </p:scale>
        <p:origin x="416" y="184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  <p:guide pos="3341"/>
        <p:guide orient="horz" pos="10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6/2/26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US" sz="4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pt)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 (12</a:t>
            </a:r>
            <a:r>
              <a:rPr lang="en-GB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27967" y="6189042"/>
            <a:ext cx="2217738" cy="2300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Москва 202</a:t>
            </a:r>
            <a:r>
              <a:rPr lang="en-US" sz="1200" dirty="0">
                <a:latin typeface="HSE Sans" panose="02000000000000000000" pitchFamily="2" charset="0"/>
              </a:rPr>
              <a:t>4</a:t>
            </a:r>
            <a:r>
              <a:rPr lang="ru-RU" sz="1200" dirty="0">
                <a:latin typeface="HSE Sans" panose="02000000000000000000" pitchFamily="2" charset="0"/>
              </a:rPr>
              <a:t> (12</a:t>
            </a:r>
            <a:r>
              <a:rPr lang="en-US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 (16 </a:t>
            </a:r>
            <a:r>
              <a:rPr lang="en-US" sz="1600" dirty="0">
                <a:latin typeface="HSE Sans" panose="02000000000000000000" pitchFamily="2" charset="0"/>
              </a:rPr>
              <a:t>pt)</a:t>
            </a:r>
          </a:p>
        </p:txBody>
      </p:sp>
    </p:spTree>
    <p:extLst>
      <p:ext uri="{BB962C8B-B14F-4D97-AF65-F5344CB8AC3E}">
        <p14:creationId xmlns:p14="http://schemas.microsoft.com/office/powerpoint/2010/main" val="1381717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US" sz="4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latin typeface="HSE Sans" panose="02000000000000000000" pitchFamily="2" charset="0"/>
              </a:rPr>
              <a:t>Название факультета</a:t>
            </a:r>
            <a:br>
              <a:rPr lang="ru-RU" sz="1600" dirty="0">
                <a:latin typeface="HSE Sans" panose="02000000000000000000" pitchFamily="2" charset="0"/>
              </a:rPr>
            </a:br>
            <a:r>
              <a:rPr lang="ru-RU" sz="1600" dirty="0">
                <a:latin typeface="HSE Sans" panose="02000000000000000000" pitchFamily="2" charset="0"/>
              </a:rPr>
              <a:t>в две строки (16 </a:t>
            </a:r>
            <a:r>
              <a:rPr lang="en-GB" sz="16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 (12</a:t>
            </a:r>
            <a:r>
              <a:rPr lang="en-GB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27967" y="6189042"/>
            <a:ext cx="2217738" cy="2300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Москва 202</a:t>
            </a:r>
            <a:r>
              <a:rPr lang="en-US" sz="1200" dirty="0">
                <a:latin typeface="HSE Sans" panose="02000000000000000000" pitchFamily="2" charset="0"/>
              </a:rPr>
              <a:t>4</a:t>
            </a:r>
            <a:r>
              <a:rPr lang="ru-RU" sz="1200" dirty="0">
                <a:latin typeface="HSE Sans" panose="02000000000000000000" pitchFamily="2" charset="0"/>
              </a:rPr>
              <a:t> (12</a:t>
            </a:r>
            <a:r>
              <a:rPr lang="en-US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 (16 </a:t>
            </a:r>
            <a:r>
              <a:rPr lang="en-US" sz="1600" dirty="0">
                <a:latin typeface="HSE Sans" panose="02000000000000000000" pitchFamily="2" charset="0"/>
              </a:rPr>
              <a:t>pt)</a:t>
            </a: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algn="ctr"/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 (24 </a:t>
            </a:r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>
              <a:spcBef>
                <a:spcPts val="1200"/>
              </a:spcBef>
            </a:pPr>
            <a:r>
              <a:rPr lang="ru-RU" sz="1300" dirty="0">
                <a:latin typeface="HSE Sans" panose="02000000000000000000" pitchFamily="2" charset="0"/>
              </a:rPr>
              <a:t>Небольшие куски текста (13</a:t>
            </a:r>
            <a:r>
              <a:rPr lang="en-US" sz="1300" dirty="0">
                <a:latin typeface="HSE Sans" panose="02000000000000000000" pitchFamily="2" charset="0"/>
              </a:rPr>
              <a:t>pt) </a:t>
            </a:r>
            <a:r>
              <a:rPr lang="ru-RU" sz="1300" dirty="0">
                <a:latin typeface="HSE Sans" panose="02000000000000000000" pitchFamily="2" charset="0"/>
              </a:rP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  <a:p>
            <a:pPr>
              <a:spcBef>
                <a:spcPts val="1200"/>
              </a:spcBef>
            </a:pP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798C6166-01E6-3A4D-3611-967AEA952E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_1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algn="ctr"/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 (24 </a:t>
            </a:r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>
              <a:spcBef>
                <a:spcPts val="1200"/>
              </a:spcBef>
            </a:pPr>
            <a:r>
              <a:rPr lang="ru-RU" sz="1300" dirty="0">
                <a:latin typeface="HSE Sans" panose="02000000000000000000" pitchFamily="2" charset="0"/>
              </a:rPr>
              <a:t>Небольшие куски текста (13</a:t>
            </a:r>
            <a:r>
              <a:rPr lang="en-US" sz="1300" dirty="0">
                <a:latin typeface="HSE Sans" panose="02000000000000000000" pitchFamily="2" charset="0"/>
              </a:rPr>
              <a:t>pt) </a:t>
            </a:r>
            <a:r>
              <a:rPr lang="ru-RU" sz="1300" dirty="0">
                <a:latin typeface="HSE Sans" panose="02000000000000000000" pitchFamily="2" charset="0"/>
              </a:rP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  <a:p>
            <a:pPr>
              <a:spcBef>
                <a:spcPts val="1200"/>
              </a:spcBef>
            </a:pP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3" name="Текст 37">
            <a:extLst>
              <a:ext uri="{FF2B5EF4-FFF2-40B4-BE49-F238E27FC236}">
                <a16:creationId xmlns:a16="http://schemas.microsoft.com/office/drawing/2014/main" id="{ADCA6769-713A-C49E-92DE-E9D7351777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55C193-8C8A-222F-D79E-2AE23A67B14E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chemeClr val="bg1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631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  <a:prstGeom prst="rect">
            <a:avLst/>
          </a:prstGeom>
        </p:spPr>
        <p:txBody>
          <a:bodyPr lIns="0" tIns="0" rIns="0" numCol="3" spcCol="2520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>
              <a:spcBef>
                <a:spcPts val="1200"/>
              </a:spcBef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1F48D50A-A262-1C9D-B595-6E723440F8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5DC289-A346-6D52-728C-DBDB0625F3E3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5" name="Текст 37">
            <a:extLst>
              <a:ext uri="{FF2B5EF4-FFF2-40B4-BE49-F238E27FC236}">
                <a16:creationId xmlns:a16="http://schemas.microsoft.com/office/drawing/2014/main" id="{87E14987-3496-B241-A4C9-88FACDD837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5DA233-2840-0CF2-7595-6E920D8F32D3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_3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5" name="Текст 37">
            <a:extLst>
              <a:ext uri="{FF2B5EF4-FFF2-40B4-BE49-F238E27FC236}">
                <a16:creationId xmlns:a16="http://schemas.microsoft.com/office/drawing/2014/main" id="{87E14987-3496-B241-A4C9-88FACDD837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5DA233-2840-0CF2-7595-6E920D8F32D3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chemeClr val="bg1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E56B6ECB-F8B4-2DEC-3445-0731D13294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755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947BE6C6-911D-97B1-9FF0-E56E76CE1F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B8F2F7-F867-3733-221D-9105DBD76686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 (16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BAA2ABD2-5DD0-5891-721C-8C35607EF2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11CE61-AEA2-6B2E-A6BA-E1FCC0F30308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E37F1E9B-DA02-8B04-5D66-6E70B18F87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33964B-EB89-8BAB-E7B2-D61619F5CBD2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F9D02078-C44D-FDC7-F016-AAA697B369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8842E0-94A4-7C95-6167-A4343D4F4EBC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</a:t>
            </a:r>
            <a:b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набирается меньшим кеглем, чем заголовок (16</a:t>
            </a:r>
            <a:r>
              <a:rPr lang="en-US" sz="16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</a:t>
            </a: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A4F7150B-29F6-E02B-DF03-A6CF1DAE14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3D227-70C3-C589-760B-7B2358309F01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817FAA25-7AFF-120D-E11E-23900BC36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827A0B-4041-FA0E-8E19-B1E358B43497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2" name="Текст 37">
            <a:extLst>
              <a:ext uri="{FF2B5EF4-FFF2-40B4-BE49-F238E27FC236}">
                <a16:creationId xmlns:a16="http://schemas.microsoft.com/office/drawing/2014/main" id="{54F64357-E931-2C80-4961-FDAC6AD52A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Заголовок 31">
            <a:extLst>
              <a:ext uri="{FF2B5EF4-FFF2-40B4-BE49-F238E27FC236}">
                <a16:creationId xmlns:a16="http://schemas.microsoft.com/office/drawing/2014/main" id="{B4ECCF55-736F-5DD2-72AF-D683B18FEC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B48259-00E8-7932-5CD7-1A445FA86E5D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чистый_2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B04E4D2A-55A2-2F42-5D5C-467DF3CA9C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5" name="Текст 37">
            <a:extLst>
              <a:ext uri="{FF2B5EF4-FFF2-40B4-BE49-F238E27FC236}">
                <a16:creationId xmlns:a16="http://schemas.microsoft.com/office/drawing/2014/main" id="{46122766-31E7-B290-0B7D-277417BEA3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6" name="Заголовок 31">
            <a:extLst>
              <a:ext uri="{FF2B5EF4-FFF2-40B4-BE49-F238E27FC236}">
                <a16:creationId xmlns:a16="http://schemas.microsoft.com/office/drawing/2014/main" id="{7A60AC51-9662-2A08-7297-1D1D3632CF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C49F95-69E0-D3A2-1DD8-AED9B6E77AFE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chemeClr val="bg1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1100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4EF4727E-E2C9-E01B-F8F7-345AD903BF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96000" y="252900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чистый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70409579-9A00-AFB8-5E22-CD53B201BC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196000" y="252900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238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60" r:id="rId3"/>
    <p:sldLayoutId id="2147483663" r:id="rId4"/>
    <p:sldLayoutId id="2147483661" r:id="rId5"/>
    <p:sldLayoutId id="2147483650" r:id="rId6"/>
    <p:sldLayoutId id="2147483666" r:id="rId7"/>
    <p:sldLayoutId id="2147483651" r:id="rId8"/>
    <p:sldLayoutId id="2147483652" r:id="rId9"/>
    <p:sldLayoutId id="2147483654" r:id="rId10"/>
    <p:sldLayoutId id="2147483655" r:id="rId11"/>
    <p:sldLayoutId id="2147483656" r:id="rId12"/>
    <p:sldLayoutId id="2147483658" r:id="rId13"/>
    <p:sldLayoutId id="2147483657" r:id="rId14"/>
    <p:sldLayoutId id="2147483664" r:id="rId15"/>
    <p:sldLayoutId id="2147483659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A1E241-242E-DD0A-44F9-E3419A05B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Исследование рынка труда школьников на основе данных о вакансиях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00E710-571C-98F6-BA66-BFF02C864F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Факультет компьютерных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8543F12-E7D3-7DFF-16C2-422F9CF01F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Анализ данных и продуктовый подход в </a:t>
            </a:r>
            <a:r>
              <a:rPr lang="en-US" dirty="0"/>
              <a:t>HR</a:t>
            </a:r>
            <a:r>
              <a:rPr lang="ru-RU" dirty="0"/>
              <a:t>-менеджменте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0FD3B58-6E3C-E257-9131-75703D1101C7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 dirty="0"/>
              <a:t>Москва 2026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DDDD5D28-E949-BDF7-0BC3-F83B72DF02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Зубченко Анастасия</a:t>
            </a:r>
          </a:p>
        </p:txBody>
      </p:sp>
    </p:spTree>
    <p:extLst>
      <p:ext uri="{BB962C8B-B14F-4D97-AF65-F5344CB8AC3E}">
        <p14:creationId xmlns:p14="http://schemas.microsoft.com/office/powerpoint/2010/main" val="3714832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C23754-A6BC-A40C-0373-22A66ED3D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исследования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5E11F8-D162-C8EC-CBD8-E442002740C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Комплексный обзор рынка труда для несовершеннолетних и выявление типичных условий найма.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67FCB1-6C2C-798C-6505-D7986E52D5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EDA</a:t>
            </a:r>
            <a:r>
              <a:rPr lang="ru-RU" dirty="0"/>
              <a:t>,</a:t>
            </a:r>
            <a:r>
              <a:rPr lang="en" dirty="0"/>
              <a:t> </a:t>
            </a:r>
            <a:r>
              <a:rPr lang="ru-RU" dirty="0"/>
              <a:t>предобработка и инженерия признаков, кластеризация, классификация, регрессия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14BAE4E-C9C1-B58E-F9D8-4D80524DDE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2726" y="4103994"/>
            <a:ext cx="2757612" cy="1569661"/>
          </a:xfrm>
        </p:spPr>
        <p:txBody>
          <a:bodyPr/>
          <a:lstStyle/>
          <a:p>
            <a:r>
              <a:rPr lang="ru-RU" dirty="0"/>
              <a:t>Портал «Работа в России» - 491 189 вакансий на январь 2026, после фильтрации 2 213 подходящих вакансий для несовершеннолетних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E9875A5-5548-7F57-7FE8-3560A223B2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ru-RU" sz="4400" dirty="0"/>
              <a:t>Цель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D9BE67D6-B62F-4DE8-E5C7-4BF3AD0E0A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047007" y="2710235"/>
            <a:ext cx="3471931" cy="1164116"/>
          </a:xfrm>
        </p:spPr>
        <p:txBody>
          <a:bodyPr lIns="0" tIns="0" rIns="0" bIns="0">
            <a:noAutofit/>
          </a:bodyPr>
          <a:lstStyle/>
          <a:p>
            <a:r>
              <a:rPr lang="ru-RU" sz="4400" dirty="0"/>
              <a:t>Инструменты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BCE27624-2527-F21A-30C2-5B55B3F0A82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32726" y="2710235"/>
            <a:ext cx="2758143" cy="1164116"/>
          </a:xfrm>
        </p:spPr>
        <p:txBody>
          <a:bodyPr lIns="0" tIns="0" rIns="0" bIns="0">
            <a:noAutofit/>
          </a:bodyPr>
          <a:lstStyle/>
          <a:p>
            <a:r>
              <a:rPr lang="ru-RU" sz="4400" dirty="0"/>
              <a:t>Данные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6A677AAD-F68A-A9D2-DD71-19C7071562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Исследование рынка труда школьников на основе данных о вакансиях</a:t>
            </a:r>
          </a:p>
        </p:txBody>
      </p:sp>
    </p:spTree>
    <p:extLst>
      <p:ext uri="{BB962C8B-B14F-4D97-AF65-F5344CB8AC3E}">
        <p14:creationId xmlns:p14="http://schemas.microsoft.com/office/powerpoint/2010/main" val="4034600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>
            <a:extLst>
              <a:ext uri="{FF2B5EF4-FFF2-40B4-BE49-F238E27FC236}">
                <a16:creationId xmlns:a16="http://schemas.microsoft.com/office/drawing/2014/main" id="{CDEF0C5B-D96A-397A-E414-7294C2654B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5788" y="1165507"/>
            <a:ext cx="11058065" cy="307778"/>
          </a:xfrm>
        </p:spPr>
        <p:txBody>
          <a:bodyPr/>
          <a:lstStyle/>
          <a:p>
            <a:r>
              <a:rPr lang="ru-RU" sz="2400" dirty="0"/>
              <a:t>Исследуемые гипотезы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EDE0620-B0E8-002C-8D32-4F72E719F7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Исследование рынка труда школьников на основе данных о вакансиях</a:t>
            </a:r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E3B67526-CF2E-0E4C-932D-4C45937A8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887506"/>
              </p:ext>
            </p:extLst>
          </p:nvPr>
        </p:nvGraphicFramePr>
        <p:xfrm>
          <a:off x="566959" y="1726153"/>
          <a:ext cx="11058066" cy="45690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802">
                  <a:extLst>
                    <a:ext uri="{9D8B030D-6E8A-4147-A177-3AD203B41FA5}">
                      <a16:colId xmlns:a16="http://schemas.microsoft.com/office/drawing/2014/main" val="3757515663"/>
                    </a:ext>
                  </a:extLst>
                </a:gridCol>
                <a:gridCol w="6677747">
                  <a:extLst>
                    <a:ext uri="{9D8B030D-6E8A-4147-A177-3AD203B41FA5}">
                      <a16:colId xmlns:a16="http://schemas.microsoft.com/office/drawing/2014/main" val="1046102616"/>
                    </a:ext>
                  </a:extLst>
                </a:gridCol>
                <a:gridCol w="2764517">
                  <a:extLst>
                    <a:ext uri="{9D8B030D-6E8A-4147-A177-3AD203B41FA5}">
                      <a16:colId xmlns:a16="http://schemas.microsoft.com/office/drawing/2014/main" val="3784908466"/>
                    </a:ext>
                  </a:extLst>
                </a:gridCol>
              </a:tblGrid>
              <a:tr h="598670">
                <a:tc>
                  <a:txBody>
                    <a:bodyPr/>
                    <a:lstStyle/>
                    <a:p>
                      <a:r>
                        <a:rPr lang="ru-RU" sz="1300" b="1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Номер гипотезы</a:t>
                      </a:r>
                      <a:endParaRPr lang="en-RU" sz="1300" b="1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Гипотеза</a:t>
                      </a:r>
                      <a:endParaRPr lang="en-RU" sz="1300" b="1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Вывод</a:t>
                      </a:r>
                      <a:endParaRPr lang="en-RU" sz="1300" b="1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016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1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 Основу рынка составляют простые рабочие профессии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980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2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Большинство вакансий не требуют опыта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854252"/>
                  </a:ext>
                </a:extLst>
              </a:tr>
              <a:tr h="1440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Частичная занятость дает более высокую часовую ставку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144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Существует региональная дифференциация зарплат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RU" sz="1300" b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909998"/>
                  </a:ext>
                </a:extLst>
              </a:tr>
              <a:tr h="351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Стажировки предлагают наиболее высокую оплату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RU" sz="1300" b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166627"/>
                  </a:ext>
                </a:extLst>
              </a:tr>
              <a:tr h="351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Зарплаты привязаны к МРОТ 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RU" sz="1300" b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613863"/>
                  </a:ext>
                </a:extLst>
              </a:tr>
              <a:tr h="351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Премии и бонусы характерны для высокооплачиваемых вакансий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RU" sz="1300" b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546100"/>
                  </a:ext>
                </a:extLst>
              </a:tr>
              <a:tr h="351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Количество рабочих мест положительно коррелирует с зарплатой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RU" sz="1300" b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65734"/>
                  </a:ext>
                </a:extLst>
              </a:tr>
              <a:tr h="351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Вакансии с гибким графиком имеют более высокую часовую ставку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RU" sz="1300" b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359765"/>
                  </a:ext>
                </a:extLst>
              </a:tr>
              <a:tr h="351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В восточных и северных регионах зарплаты выше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RU" sz="1300" b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916908"/>
                  </a:ext>
                </a:extLst>
              </a:tr>
              <a:tr h="351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Требования к образованию минимальны 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RU" sz="1300" b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579352"/>
                  </a:ext>
                </a:extLst>
              </a:tr>
              <a:tr h="351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Опыт работы является ключевым фактором, определяющим часовую ставку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RU" sz="1300" b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0885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4032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2F77D-F166-913C-A71F-C9C2BACCD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4">
            <a:extLst>
              <a:ext uri="{FF2B5EF4-FFF2-40B4-BE49-F238E27FC236}">
                <a16:creationId xmlns:a16="http://schemas.microsoft.com/office/drawing/2014/main" id="{004420D9-800D-D67A-B041-F85DC325C021}"/>
              </a:ext>
            </a:extLst>
          </p:cNvPr>
          <p:cNvSpPr txBox="1">
            <a:spLocks/>
          </p:cNvSpPr>
          <p:nvPr/>
        </p:nvSpPr>
        <p:spPr>
          <a:xfrm>
            <a:off x="517197" y="1365517"/>
            <a:ext cx="7617877" cy="5370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/>
              <a:t>Дескриптивная статистика</a:t>
            </a:r>
          </a:p>
        </p:txBody>
      </p:sp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D0F94A01-EAED-0F0B-2915-698ADA7F8ABB}"/>
              </a:ext>
            </a:extLst>
          </p:cNvPr>
          <p:cNvGraphicFramePr>
            <a:graphicFrameLocks noGrp="1"/>
          </p:cNvGraphicFramePr>
          <p:nvPr/>
        </p:nvGraphicFramePr>
        <p:xfrm>
          <a:off x="517197" y="1984075"/>
          <a:ext cx="7812795" cy="3592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6397">
                  <a:extLst>
                    <a:ext uri="{9D8B030D-6E8A-4147-A177-3AD203B41FA5}">
                      <a16:colId xmlns:a16="http://schemas.microsoft.com/office/drawing/2014/main" val="3757515663"/>
                    </a:ext>
                  </a:extLst>
                </a:gridCol>
                <a:gridCol w="1953199">
                  <a:extLst>
                    <a:ext uri="{9D8B030D-6E8A-4147-A177-3AD203B41FA5}">
                      <a16:colId xmlns:a16="http://schemas.microsoft.com/office/drawing/2014/main" val="4180931641"/>
                    </a:ext>
                  </a:extLst>
                </a:gridCol>
                <a:gridCol w="1953199">
                  <a:extLst>
                    <a:ext uri="{9D8B030D-6E8A-4147-A177-3AD203B41FA5}">
                      <a16:colId xmlns:a16="http://schemas.microsoft.com/office/drawing/2014/main" val="1144053917"/>
                    </a:ext>
                  </a:extLst>
                </a:gridCol>
              </a:tblGrid>
              <a:tr h="598670">
                <a:tc>
                  <a:txBody>
                    <a:bodyPr/>
                    <a:lstStyle/>
                    <a:p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ТОП-5 профессий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Кол-во вакансий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Доля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016697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Уборщик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767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34,6%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980882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Подсобный рабочий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602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27,2%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854252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Помощник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85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3,8%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144885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Слесарь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77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3,5%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909998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Упаковщик-фасовщик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68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3,1%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289320"/>
                  </a:ext>
                </a:extLst>
              </a:tr>
            </a:tbl>
          </a:graphicData>
        </a:graphic>
      </p:graphicFrame>
      <p:sp>
        <p:nvSpPr>
          <p:cNvPr id="14" name="Текст 7">
            <a:extLst>
              <a:ext uri="{FF2B5EF4-FFF2-40B4-BE49-F238E27FC236}">
                <a16:creationId xmlns:a16="http://schemas.microsoft.com/office/drawing/2014/main" id="{46E77D2D-DD2C-AADB-5C96-4640B66D1E2C}"/>
              </a:ext>
            </a:extLst>
          </p:cNvPr>
          <p:cNvSpPr txBox="1">
            <a:spLocks/>
          </p:cNvSpPr>
          <p:nvPr/>
        </p:nvSpPr>
        <p:spPr>
          <a:xfrm>
            <a:off x="8606720" y="1984075"/>
            <a:ext cx="3270647" cy="3248220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rgbClr val="0E2D69"/>
                </a:solidFill>
                <a:latin typeface="HSE Sans" panose="02000000000000000000" pitchFamily="2" charset="0"/>
              </a:rPr>
              <a:t>Типы занятости: </a:t>
            </a:r>
          </a:p>
          <a:p>
            <a:pPr marL="285750" indent="-285750">
              <a:lnSpc>
                <a:spcPct val="100000"/>
              </a:lnSpc>
            </a:pPr>
            <a:r>
              <a:rPr lang="ru-RU" sz="1600" dirty="0">
                <a:solidFill>
                  <a:srgbClr val="0E2D69"/>
                </a:solidFill>
                <a:latin typeface="HSE Sans" panose="02000000000000000000" pitchFamily="2" charset="0"/>
              </a:rPr>
              <a:t>полная – 60,5%</a:t>
            </a:r>
          </a:p>
          <a:p>
            <a:pPr marL="285750" indent="-285750">
              <a:lnSpc>
                <a:spcPct val="100000"/>
              </a:lnSpc>
            </a:pPr>
            <a:r>
              <a:rPr lang="ru-RU" sz="1600" dirty="0">
                <a:solidFill>
                  <a:srgbClr val="0E2D69"/>
                </a:solidFill>
                <a:latin typeface="HSE Sans" panose="02000000000000000000" pitchFamily="2" charset="0"/>
              </a:rPr>
              <a:t>временная – 28,3%</a:t>
            </a:r>
          </a:p>
          <a:p>
            <a:pPr marL="285750" indent="-285750">
              <a:lnSpc>
                <a:spcPct val="100000"/>
              </a:lnSpc>
            </a:pPr>
            <a:r>
              <a:rPr lang="ru-RU" sz="1600" dirty="0">
                <a:solidFill>
                  <a:srgbClr val="0E2D69"/>
                </a:solidFill>
                <a:latin typeface="HSE Sans" panose="02000000000000000000" pitchFamily="2" charset="0"/>
              </a:rPr>
              <a:t>частичная – 9,8%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rgbClr val="0E2D69"/>
                </a:solidFill>
                <a:latin typeface="HSE Sans" panose="02000000000000000000" pitchFamily="2" charset="0"/>
              </a:rPr>
              <a:t>Подходит для школьников: </a:t>
            </a:r>
            <a:r>
              <a:rPr lang="ru-RU" sz="1600" dirty="0">
                <a:solidFill>
                  <a:srgbClr val="0E2D69"/>
                </a:solidFill>
                <a:latin typeface="HSE Sans" panose="02000000000000000000" pitchFamily="2" charset="0"/>
              </a:rPr>
              <a:t>частичная и временная –  38,1% 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1600" b="1" dirty="0">
                <a:solidFill>
                  <a:srgbClr val="0E2D69"/>
                </a:solidFill>
                <a:latin typeface="HSE Sans" panose="02000000000000000000" pitchFamily="2" charset="0"/>
              </a:rPr>
              <a:t>Требования к опыту: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600" dirty="0">
                <a:solidFill>
                  <a:srgbClr val="0E2D69"/>
                </a:solidFill>
                <a:latin typeface="HSE Sans" panose="02000000000000000000" pitchFamily="2" charset="0"/>
              </a:rPr>
              <a:t>93,6% вакансий не требуют опыта</a:t>
            </a:r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97303328-A2CA-E2EE-4EA7-4E33BF67A41A}"/>
              </a:ext>
            </a:extLst>
          </p:cNvPr>
          <p:cNvSpPr txBox="1">
            <a:spLocks/>
          </p:cNvSpPr>
          <p:nvPr/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Исследование рынка труда школьников на основе данных о вакансиях</a:t>
            </a:r>
          </a:p>
        </p:txBody>
      </p:sp>
    </p:spTree>
    <p:extLst>
      <p:ext uri="{BB962C8B-B14F-4D97-AF65-F5344CB8AC3E}">
        <p14:creationId xmlns:p14="http://schemas.microsoft.com/office/powerpoint/2010/main" val="3607713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31539-BDC4-FCA8-AB1C-7AC7B6805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7">
            <a:extLst>
              <a:ext uri="{FF2B5EF4-FFF2-40B4-BE49-F238E27FC236}">
                <a16:creationId xmlns:a16="http://schemas.microsoft.com/office/drawing/2014/main" id="{C44448F5-9C64-F969-840D-7EE6A986D175}"/>
              </a:ext>
            </a:extLst>
          </p:cNvPr>
          <p:cNvSpPr txBox="1">
            <a:spLocks/>
          </p:cNvSpPr>
          <p:nvPr/>
        </p:nvSpPr>
        <p:spPr>
          <a:xfrm>
            <a:off x="8340846" y="1741487"/>
            <a:ext cx="4672775" cy="324822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ru-RU" sz="1900" b="1" dirty="0">
                <a:solidFill>
                  <a:srgbClr val="0E2D69"/>
                </a:solidFill>
                <a:latin typeface="HSE Sans" panose="02000000000000000000" pitchFamily="2" charset="0"/>
              </a:rPr>
              <a:t>Распределение зарплат: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ru-RU" sz="1900" dirty="0">
                <a:solidFill>
                  <a:srgbClr val="0E2D69"/>
                </a:solidFill>
                <a:latin typeface="HSE Sans" panose="02000000000000000000" pitchFamily="2" charset="0"/>
              </a:rPr>
              <a:t>Медиана: 27 100 руб.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ru-RU" sz="1900" dirty="0">
                <a:solidFill>
                  <a:srgbClr val="0E2D69"/>
                </a:solidFill>
                <a:latin typeface="HSE Sans" panose="02000000000000000000" pitchFamily="2" charset="0"/>
              </a:rPr>
              <a:t>Мода: 27 093 руб. 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ru-RU" sz="1900" dirty="0">
                <a:solidFill>
                  <a:srgbClr val="0E2D69"/>
                </a:solidFill>
                <a:latin typeface="HSE Sans" panose="02000000000000000000" pitchFamily="2" charset="0"/>
              </a:rPr>
              <a:t>Средняя: 28 984 руб.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ru-RU" sz="1900" b="1" dirty="0">
                <a:solidFill>
                  <a:srgbClr val="0E2D69"/>
                </a:solidFill>
                <a:latin typeface="HSE Sans" panose="02000000000000000000" pitchFamily="2" charset="0"/>
              </a:rPr>
              <a:t>Квартили: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" sz="1900" dirty="0">
                <a:solidFill>
                  <a:srgbClr val="0E2D69"/>
                </a:solidFill>
                <a:latin typeface="HSE Sans" panose="02000000000000000000" pitchFamily="2" charset="0"/>
              </a:rPr>
              <a:t>Q1: 27 093 </a:t>
            </a:r>
            <a:r>
              <a:rPr lang="ru-RU" sz="1900" dirty="0">
                <a:solidFill>
                  <a:srgbClr val="0E2D69"/>
                </a:solidFill>
                <a:latin typeface="HSE Sans" panose="02000000000000000000" pitchFamily="2" charset="0"/>
              </a:rPr>
              <a:t>руб.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" sz="1900" dirty="0">
                <a:solidFill>
                  <a:srgbClr val="0E2D69"/>
                </a:solidFill>
                <a:latin typeface="HSE Sans" panose="02000000000000000000" pitchFamily="2" charset="0"/>
              </a:rPr>
              <a:t>Q2: 27 100 </a:t>
            </a:r>
            <a:r>
              <a:rPr lang="ru-RU" sz="1900" dirty="0">
                <a:solidFill>
                  <a:srgbClr val="0E2D69"/>
                </a:solidFill>
                <a:latin typeface="HSE Sans" panose="02000000000000000000" pitchFamily="2" charset="0"/>
              </a:rPr>
              <a:t>руб.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" sz="1900" dirty="0">
                <a:solidFill>
                  <a:srgbClr val="0E2D69"/>
                </a:solidFill>
                <a:latin typeface="HSE Sans" panose="02000000000000000000" pitchFamily="2" charset="0"/>
              </a:rPr>
              <a:t>Q3: 31 157 </a:t>
            </a:r>
            <a:r>
              <a:rPr lang="ru-RU" sz="1900" dirty="0">
                <a:solidFill>
                  <a:srgbClr val="0E2D69"/>
                </a:solidFill>
                <a:latin typeface="HSE Sans" panose="02000000000000000000" pitchFamily="2" charset="0"/>
              </a:rPr>
              <a:t>руб.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endParaRPr lang="ru-RU" sz="1600" dirty="0">
              <a:solidFill>
                <a:srgbClr val="102D69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B0AA05C-0442-1B3A-314E-CD2CB2734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572620"/>
              </p:ext>
            </p:extLst>
          </p:nvPr>
        </p:nvGraphicFramePr>
        <p:xfrm>
          <a:off x="585787" y="1741487"/>
          <a:ext cx="7503681" cy="356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2454">
                  <a:extLst>
                    <a:ext uri="{9D8B030D-6E8A-4147-A177-3AD203B41FA5}">
                      <a16:colId xmlns:a16="http://schemas.microsoft.com/office/drawing/2014/main" val="3757515663"/>
                    </a:ext>
                  </a:extLst>
                </a:gridCol>
                <a:gridCol w="2501227">
                  <a:extLst>
                    <a:ext uri="{9D8B030D-6E8A-4147-A177-3AD203B41FA5}">
                      <a16:colId xmlns:a16="http://schemas.microsoft.com/office/drawing/2014/main" val="4180931641"/>
                    </a:ext>
                  </a:extLst>
                </a:gridCol>
              </a:tblGrid>
              <a:tr h="890490">
                <a:tc>
                  <a:txBody>
                    <a:bodyPr/>
                    <a:lstStyle/>
                    <a:p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Регион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Средняя зарплата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016697"/>
                  </a:ext>
                </a:extLst>
              </a:tr>
              <a:tr h="8904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Новосибирская область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36 180 руб.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980882"/>
                  </a:ext>
                </a:extLst>
              </a:tr>
              <a:tr h="8904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Иркутская область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34 840 руб.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854252"/>
                  </a:ext>
                </a:extLst>
              </a:tr>
              <a:tr h="8904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Тамбовская область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19 740 руб.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144885"/>
                  </a:ext>
                </a:extLst>
              </a:tr>
            </a:tbl>
          </a:graphicData>
        </a:graphic>
      </p:graphicFrame>
      <p:sp>
        <p:nvSpPr>
          <p:cNvPr id="4" name="Текст 3">
            <a:extLst>
              <a:ext uri="{FF2B5EF4-FFF2-40B4-BE49-F238E27FC236}">
                <a16:creationId xmlns:a16="http://schemas.microsoft.com/office/drawing/2014/main" id="{D95C2148-6765-EBE0-668F-6E5446C74327}"/>
              </a:ext>
            </a:extLst>
          </p:cNvPr>
          <p:cNvSpPr txBox="1">
            <a:spLocks/>
          </p:cNvSpPr>
          <p:nvPr/>
        </p:nvSpPr>
        <p:spPr>
          <a:xfrm>
            <a:off x="585787" y="5546035"/>
            <a:ext cx="6824303" cy="70320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К выбросам применена винзоризация 99 перцентиля до 44 000 руб.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8E5C5D-7415-9A8B-4E61-AE29698CC12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5787" y="1204476"/>
            <a:ext cx="7617877" cy="537011"/>
          </a:xfrm>
        </p:spPr>
        <p:txBody>
          <a:bodyPr/>
          <a:lstStyle/>
          <a:p>
            <a:r>
              <a:rPr lang="ru-RU" sz="2400" dirty="0"/>
              <a:t>Анализ зарплат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F2D10B95-4791-911F-DBF4-3A9B63143B42}"/>
              </a:ext>
            </a:extLst>
          </p:cNvPr>
          <p:cNvSpPr txBox="1">
            <a:spLocks/>
          </p:cNvSpPr>
          <p:nvPr/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Исследование рынка труда школьников на основе данных о вакансиях</a:t>
            </a:r>
          </a:p>
        </p:txBody>
      </p:sp>
    </p:spTree>
    <p:extLst>
      <p:ext uri="{BB962C8B-B14F-4D97-AF65-F5344CB8AC3E}">
        <p14:creationId xmlns:p14="http://schemas.microsoft.com/office/powerpoint/2010/main" val="2187124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0814C-89B4-D80A-5F33-CEB1C8553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4">
            <a:extLst>
              <a:ext uri="{FF2B5EF4-FFF2-40B4-BE49-F238E27FC236}">
                <a16:creationId xmlns:a16="http://schemas.microsoft.com/office/drawing/2014/main" id="{1AE50009-CACC-382C-4477-670612E8DE8C}"/>
              </a:ext>
            </a:extLst>
          </p:cNvPr>
          <p:cNvSpPr txBox="1">
            <a:spLocks/>
          </p:cNvSpPr>
          <p:nvPr/>
        </p:nvSpPr>
        <p:spPr>
          <a:xfrm>
            <a:off x="507129" y="1289748"/>
            <a:ext cx="7617877" cy="5370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/>
              <a:t>Визуализация распределения зарплаты</a:t>
            </a:r>
          </a:p>
        </p:txBody>
      </p:sp>
      <p:pic>
        <p:nvPicPr>
          <p:cNvPr id="10" name="Рисунок 9" descr="Изображение выглядит как текст, График, линия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AB55C6D1-2E27-9664-F3E3-C16BC7408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618" y="1826759"/>
            <a:ext cx="8212764" cy="4507132"/>
          </a:xfrm>
          <a:prstGeom prst="rect">
            <a:avLst/>
          </a:prstGeom>
        </p:spPr>
      </p:pic>
      <p:sp>
        <p:nvSpPr>
          <p:cNvPr id="11" name="Текст 3">
            <a:extLst>
              <a:ext uri="{FF2B5EF4-FFF2-40B4-BE49-F238E27FC236}">
                <a16:creationId xmlns:a16="http://schemas.microsoft.com/office/drawing/2014/main" id="{2D03BDB9-C37D-36EA-E358-A0CA151D269D}"/>
              </a:ext>
            </a:extLst>
          </p:cNvPr>
          <p:cNvSpPr txBox="1">
            <a:spLocks/>
          </p:cNvSpPr>
          <p:nvPr/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Исследование рынка труда школьников на основе данных о вакансиях</a:t>
            </a:r>
          </a:p>
        </p:txBody>
      </p:sp>
    </p:spTree>
    <p:extLst>
      <p:ext uri="{BB962C8B-B14F-4D97-AF65-F5344CB8AC3E}">
        <p14:creationId xmlns:p14="http://schemas.microsoft.com/office/powerpoint/2010/main" val="646145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3">
            <a:extLst>
              <a:ext uri="{FF2B5EF4-FFF2-40B4-BE49-F238E27FC236}">
                <a16:creationId xmlns:a16="http://schemas.microsoft.com/office/drawing/2014/main" id="{DE250DD3-E8EA-B01C-709E-FDF635A840DB}"/>
              </a:ext>
            </a:extLst>
          </p:cNvPr>
          <p:cNvSpPr txBox="1">
            <a:spLocks/>
          </p:cNvSpPr>
          <p:nvPr/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Исследование рынка труда школьников на основе данных о вакансиях</a:t>
            </a: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1DECC07E-43A5-EF14-4432-43C6E6222285}"/>
              </a:ext>
            </a:extLst>
          </p:cNvPr>
          <p:cNvSpPr txBox="1">
            <a:spLocks/>
          </p:cNvSpPr>
          <p:nvPr/>
        </p:nvSpPr>
        <p:spPr>
          <a:xfrm>
            <a:off x="585787" y="1108116"/>
            <a:ext cx="7617877" cy="5370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rgbClr val="0E2D69"/>
                </a:solidFill>
                <a:latin typeface="HSE Sans" panose="02000000000000000000" pitchFamily="2" charset="0"/>
              </a:rPr>
              <a:t>Кластеризация</a:t>
            </a:r>
            <a:r>
              <a:rPr lang="ru-RU" sz="2400" dirty="0"/>
              <a:t> </a:t>
            </a: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BA097CC1-0322-5081-E147-257AA354BF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772462"/>
              </p:ext>
            </p:extLst>
          </p:nvPr>
        </p:nvGraphicFramePr>
        <p:xfrm>
          <a:off x="585787" y="1645127"/>
          <a:ext cx="10910478" cy="44302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8013">
                  <a:extLst>
                    <a:ext uri="{9D8B030D-6E8A-4147-A177-3AD203B41FA5}">
                      <a16:colId xmlns:a16="http://schemas.microsoft.com/office/drawing/2014/main" val="3757515663"/>
                    </a:ext>
                  </a:extLst>
                </a:gridCol>
                <a:gridCol w="2002744">
                  <a:extLst>
                    <a:ext uri="{9D8B030D-6E8A-4147-A177-3AD203B41FA5}">
                      <a16:colId xmlns:a16="http://schemas.microsoft.com/office/drawing/2014/main" val="785730209"/>
                    </a:ext>
                  </a:extLst>
                </a:gridCol>
                <a:gridCol w="1476934">
                  <a:extLst>
                    <a:ext uri="{9D8B030D-6E8A-4147-A177-3AD203B41FA5}">
                      <a16:colId xmlns:a16="http://schemas.microsoft.com/office/drawing/2014/main" val="4180931641"/>
                    </a:ext>
                  </a:extLst>
                </a:gridCol>
                <a:gridCol w="2375452">
                  <a:extLst>
                    <a:ext uri="{9D8B030D-6E8A-4147-A177-3AD203B41FA5}">
                      <a16:colId xmlns:a16="http://schemas.microsoft.com/office/drawing/2014/main" val="1144053917"/>
                    </a:ext>
                  </a:extLst>
                </a:gridCol>
                <a:gridCol w="3157335">
                  <a:extLst>
                    <a:ext uri="{9D8B030D-6E8A-4147-A177-3AD203B41FA5}">
                      <a16:colId xmlns:a16="http://schemas.microsoft.com/office/drawing/2014/main" val="669040469"/>
                    </a:ext>
                  </a:extLst>
                </a:gridCol>
              </a:tblGrid>
              <a:tr h="623823">
                <a:tc>
                  <a:txBody>
                    <a:bodyPr/>
                    <a:lstStyle/>
                    <a:p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Кластер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Название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Доля рынка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Часовая ставка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Описание кластера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016697"/>
                  </a:ext>
                </a:extLst>
              </a:tr>
              <a:tr h="3440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0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Оптимальный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9,5%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329 </a:t>
                      </a: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₽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Частичная занятость, максимальная часовая ставка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980882"/>
                  </a:ext>
                </a:extLst>
              </a:tr>
              <a:tr h="2930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1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Временные массовые позиции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28,1</a:t>
                      </a: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%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229 ₽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Массовый найм, гибкий график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854252"/>
                  </a:ext>
                </a:extLst>
              </a:tr>
              <a:tr h="1356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2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Ядро рынка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46,5</a:t>
                      </a: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%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179 ₽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Полная занятость, не для школьников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144885"/>
                  </a:ext>
                </a:extLst>
              </a:tr>
              <a:tr h="3700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3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Высокооплачиваемые специалисты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1,8%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253</a:t>
                      </a:r>
                      <a:r>
                        <a:rPr lang="en-US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₽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Сменная работа, требуется опыт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909998"/>
                  </a:ext>
                </a:extLst>
              </a:tr>
              <a:tr h="4556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4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Гибкий формат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1,7</a:t>
                      </a:r>
                      <a:r>
                        <a:rPr lang="en-US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%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217 ₽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Гибкий график и удаленка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289320"/>
                  </a:ext>
                </a:extLst>
              </a:tr>
              <a:tr h="4349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5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Квалифицированные работники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11</a:t>
                      </a: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,9</a:t>
                      </a:r>
                      <a:r>
                        <a:rPr lang="en-US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%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213 ₽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Высокие требования, высокая зарплата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230626"/>
                  </a:ext>
                </a:extLst>
              </a:tr>
              <a:tr h="4246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6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Вахтовики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0,4%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191 ₽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Вакансия для вахтовых рабочих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280230"/>
                  </a:ext>
                </a:extLst>
              </a:tr>
              <a:tr h="4246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7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Стажировка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0,1</a:t>
                      </a:r>
                      <a:r>
                        <a:rPr lang="en-US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%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250 ₽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Малочисленные стажировки, подходящие для школьников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184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3851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AE135-AA13-BC4B-770E-8B2F9C2E0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4">
            <a:extLst>
              <a:ext uri="{FF2B5EF4-FFF2-40B4-BE49-F238E27FC236}">
                <a16:creationId xmlns:a16="http://schemas.microsoft.com/office/drawing/2014/main" id="{C4C620D1-08EC-3A85-AD95-9898E7A5E032}"/>
              </a:ext>
            </a:extLst>
          </p:cNvPr>
          <p:cNvSpPr txBox="1">
            <a:spLocks/>
          </p:cNvSpPr>
          <p:nvPr/>
        </p:nvSpPr>
        <p:spPr>
          <a:xfrm>
            <a:off x="520283" y="1220079"/>
            <a:ext cx="7617877" cy="5370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/>
              <a:t>Классификация</a:t>
            </a:r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F2D776AD-E932-83D5-D4D7-D7B559E0454C}"/>
              </a:ext>
            </a:extLst>
          </p:cNvPr>
          <p:cNvSpPr txBox="1">
            <a:spLocks/>
          </p:cNvSpPr>
          <p:nvPr/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Исследование рынка труда школьников на основе данных о вакансиях</a:t>
            </a:r>
          </a:p>
        </p:txBody>
      </p:sp>
      <p:sp>
        <p:nvSpPr>
          <p:cNvPr id="2" name="Rounded Rectangle 3">
            <a:extLst>
              <a:ext uri="{FF2B5EF4-FFF2-40B4-BE49-F238E27FC236}">
                <a16:creationId xmlns:a16="http://schemas.microsoft.com/office/drawing/2014/main" id="{54780DE6-3708-F363-25A3-F7EEC1123A8D}"/>
              </a:ext>
            </a:extLst>
          </p:cNvPr>
          <p:cNvSpPr/>
          <p:nvPr/>
        </p:nvSpPr>
        <p:spPr>
          <a:xfrm>
            <a:off x="7362676" y="2738574"/>
            <a:ext cx="2560320" cy="2194410"/>
          </a:xfrm>
          <a:prstGeom prst="roundRect">
            <a:avLst/>
          </a:prstGeom>
          <a:solidFill>
            <a:srgbClr val="F5F7FA"/>
          </a:solidFill>
          <a:ln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FECD24-17C8-DC21-42C9-BD5B20754846}"/>
              </a:ext>
            </a:extLst>
          </p:cNvPr>
          <p:cNvSpPr txBox="1"/>
          <p:nvPr/>
        </p:nvSpPr>
        <p:spPr>
          <a:xfrm>
            <a:off x="7545555" y="3012894"/>
            <a:ext cx="214950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 err="1">
                <a:solidFill>
                  <a:srgbClr val="181C25"/>
                </a:solidFill>
              </a:rPr>
              <a:t>XGBoost</a:t>
            </a:r>
            <a:endParaRPr sz="2000" b="1" dirty="0">
              <a:solidFill>
                <a:srgbClr val="181C25"/>
              </a:solidFill>
            </a:endParaRPr>
          </a:p>
          <a:p>
            <a:pPr>
              <a:defRPr sz="1600">
                <a:solidFill>
                  <a:srgbClr val="2D7DD2"/>
                </a:solidFill>
              </a:defRPr>
            </a:pPr>
            <a:r>
              <a:rPr lang="en" dirty="0"/>
              <a:t>Accuracy: 0.9977 Precision: 1.0000 Recall: 0.9940 </a:t>
            </a:r>
            <a:endParaRPr lang="ru-RU" dirty="0"/>
          </a:p>
          <a:p>
            <a:pPr>
              <a:defRPr sz="1600">
                <a:solidFill>
                  <a:srgbClr val="2D7DD2"/>
                </a:solidFill>
              </a:defRPr>
            </a:pPr>
            <a:r>
              <a:rPr lang="en" dirty="0"/>
              <a:t>F1-score: 0.9970 </a:t>
            </a:r>
            <a:endParaRPr lang="ru-RU" dirty="0"/>
          </a:p>
          <a:p>
            <a:pPr>
              <a:defRPr sz="1600">
                <a:solidFill>
                  <a:srgbClr val="2D7DD2"/>
                </a:solidFill>
              </a:defRPr>
            </a:pPr>
            <a:r>
              <a:rPr lang="en" dirty="0"/>
              <a:t>ROC-AUC: 1.0000</a:t>
            </a:r>
            <a:endParaRPr dirty="0"/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3CEED073-A1BA-36E1-0630-27EA53934D10}"/>
              </a:ext>
            </a:extLst>
          </p:cNvPr>
          <p:cNvSpPr/>
          <p:nvPr/>
        </p:nvSpPr>
        <p:spPr>
          <a:xfrm>
            <a:off x="4358923" y="2738574"/>
            <a:ext cx="2560320" cy="2194485"/>
          </a:xfrm>
          <a:prstGeom prst="roundRect">
            <a:avLst/>
          </a:prstGeom>
          <a:solidFill>
            <a:srgbClr val="F5F7FA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C70C8-7288-2F29-57F4-ABD2842B5F36}"/>
              </a:ext>
            </a:extLst>
          </p:cNvPr>
          <p:cNvSpPr txBox="1"/>
          <p:nvPr/>
        </p:nvSpPr>
        <p:spPr>
          <a:xfrm>
            <a:off x="4622972" y="3012969"/>
            <a:ext cx="2032221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181C25"/>
                </a:solidFill>
              </a:rPr>
              <a:t>Random Forest</a:t>
            </a:r>
            <a:endParaRPr lang="ru-RU" sz="2000" b="1" dirty="0">
              <a:solidFill>
                <a:srgbClr val="181C25"/>
              </a:solidFill>
            </a:endParaRPr>
          </a:p>
          <a:p>
            <a:r>
              <a:rPr lang="en" sz="1600" dirty="0">
                <a:solidFill>
                  <a:srgbClr val="34A853"/>
                </a:solidFill>
              </a:rPr>
              <a:t>Accuracy: 0.9955 </a:t>
            </a:r>
            <a:endParaRPr lang="ru-RU" sz="1600" dirty="0">
              <a:solidFill>
                <a:srgbClr val="34A853"/>
              </a:solidFill>
            </a:endParaRPr>
          </a:p>
          <a:p>
            <a:r>
              <a:rPr lang="en" sz="1600" dirty="0">
                <a:solidFill>
                  <a:srgbClr val="34A853"/>
                </a:solidFill>
              </a:rPr>
              <a:t>Precision: 0.9940 </a:t>
            </a:r>
            <a:endParaRPr lang="ru-RU" sz="1600" dirty="0">
              <a:solidFill>
                <a:srgbClr val="34A853"/>
              </a:solidFill>
            </a:endParaRPr>
          </a:p>
          <a:p>
            <a:r>
              <a:rPr lang="en" sz="1600" dirty="0">
                <a:solidFill>
                  <a:srgbClr val="34A853"/>
                </a:solidFill>
              </a:rPr>
              <a:t>Recall: 0.9940 </a:t>
            </a:r>
          </a:p>
          <a:p>
            <a:pPr>
              <a:defRPr sz="1600">
                <a:solidFill>
                  <a:srgbClr val="34A853"/>
                </a:solidFill>
              </a:defRPr>
            </a:pPr>
            <a:r>
              <a:rPr lang="en" sz="1600" dirty="0">
                <a:solidFill>
                  <a:srgbClr val="34A853"/>
                </a:solidFill>
              </a:rPr>
              <a:t>F1-score: 0.9940 </a:t>
            </a:r>
          </a:p>
          <a:p>
            <a:pPr>
              <a:defRPr sz="1600">
                <a:solidFill>
                  <a:srgbClr val="34A853"/>
                </a:solidFill>
              </a:defRPr>
            </a:pPr>
            <a:r>
              <a:rPr lang="en" sz="1600" dirty="0">
                <a:solidFill>
                  <a:srgbClr val="34A853"/>
                </a:solidFill>
              </a:rPr>
              <a:t>ROC-AUC: 1.0000</a:t>
            </a:r>
          </a:p>
          <a:p>
            <a:pPr>
              <a:defRPr sz="1600">
                <a:solidFill>
                  <a:srgbClr val="34A853"/>
                </a:solidFill>
              </a:defRPr>
            </a:pPr>
            <a:endParaRPr lang="en" dirty="0"/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651DC892-7E55-17A4-B617-0696384AD2AA}"/>
              </a:ext>
            </a:extLst>
          </p:cNvPr>
          <p:cNvSpPr/>
          <p:nvPr/>
        </p:nvSpPr>
        <p:spPr>
          <a:xfrm>
            <a:off x="1355170" y="2738648"/>
            <a:ext cx="2560320" cy="2194411"/>
          </a:xfrm>
          <a:prstGeom prst="roundRect">
            <a:avLst/>
          </a:prstGeom>
          <a:solidFill>
            <a:srgbClr val="F5F7FA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CA3229-C5D0-452C-A3AD-3B023B634116}"/>
              </a:ext>
            </a:extLst>
          </p:cNvPr>
          <p:cNvSpPr txBox="1"/>
          <p:nvPr/>
        </p:nvSpPr>
        <p:spPr>
          <a:xfrm>
            <a:off x="1538050" y="3012969"/>
            <a:ext cx="222305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181C25"/>
                </a:solidFill>
              </a:rPr>
              <a:t>Logistic Regression</a:t>
            </a:r>
            <a:endParaRPr lang="en" sz="2000" b="1" dirty="0">
              <a:solidFill>
                <a:srgbClr val="181C25"/>
              </a:solidFill>
            </a:endParaRPr>
          </a:p>
          <a:p>
            <a:pPr>
              <a:defRPr sz="1600">
                <a:solidFill>
                  <a:srgbClr val="FBBC05"/>
                </a:solidFill>
              </a:defRPr>
            </a:pPr>
            <a:r>
              <a:rPr lang="en" dirty="0"/>
              <a:t>Accuracy: 0.9977 Precision: 1.0000 </a:t>
            </a:r>
          </a:p>
          <a:p>
            <a:pPr>
              <a:defRPr sz="1600">
                <a:solidFill>
                  <a:srgbClr val="FBBC05"/>
                </a:solidFill>
              </a:defRPr>
            </a:pPr>
            <a:r>
              <a:rPr lang="en" dirty="0"/>
              <a:t>Recall: 0.9940 </a:t>
            </a:r>
            <a:endParaRPr lang="ru-RU" dirty="0"/>
          </a:p>
          <a:p>
            <a:pPr>
              <a:defRPr sz="1600">
                <a:solidFill>
                  <a:srgbClr val="FBBC05"/>
                </a:solidFill>
              </a:defRPr>
            </a:pPr>
            <a:r>
              <a:rPr lang="en" dirty="0"/>
              <a:t>F1-score: 0.9970 </a:t>
            </a:r>
            <a:endParaRPr lang="ru-RU" dirty="0"/>
          </a:p>
          <a:p>
            <a:pPr>
              <a:defRPr sz="1600">
                <a:solidFill>
                  <a:srgbClr val="FBBC05"/>
                </a:solidFill>
              </a:defRPr>
            </a:pPr>
            <a:r>
              <a:rPr lang="en" dirty="0"/>
              <a:t>ROC-AUC: 0.9980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31C82A-F9E1-2DD3-E5D8-35AFAB811C45}"/>
              </a:ext>
            </a:extLst>
          </p:cNvPr>
          <p:cNvSpPr txBox="1"/>
          <p:nvPr/>
        </p:nvSpPr>
        <p:spPr>
          <a:xfrm>
            <a:off x="410953" y="1686939"/>
            <a:ext cx="105249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latin typeface="HSE Sans" panose="02000000000000000000" pitchFamily="2" charset="0"/>
              </a:rPr>
              <a:t>Целевая переменная: </a:t>
            </a:r>
            <a:r>
              <a:rPr lang="en-US" sz="1600" dirty="0">
                <a:latin typeface="HSE Sans" panose="02000000000000000000" pitchFamily="2" charset="0"/>
              </a:rPr>
              <a:t>school</a:t>
            </a:r>
            <a:r>
              <a:rPr lang="en" sz="1600" b="0" i="0" dirty="0">
                <a:effectLst/>
                <a:latin typeface="system-ui"/>
              </a:rPr>
              <a:t>_</a:t>
            </a:r>
            <a:r>
              <a:rPr lang="en" sz="1600" b="0" i="0" dirty="0" err="1">
                <a:effectLst/>
                <a:latin typeface="system-ui"/>
              </a:rPr>
              <a:t>suitability_index</a:t>
            </a:r>
            <a:endParaRPr lang="en" sz="1600" b="0" i="0" dirty="0">
              <a:effectLst/>
              <a:latin typeface="system-ui"/>
            </a:endParaRPr>
          </a:p>
          <a:p>
            <a:pPr algn="l"/>
            <a:r>
              <a:rPr lang="ru-RU" sz="1600" dirty="0">
                <a:latin typeface="system-ui"/>
              </a:rPr>
              <a:t>Признаки: </a:t>
            </a:r>
            <a:r>
              <a:rPr lang="en" sz="1600" dirty="0" err="1">
                <a:latin typeface="system-ui"/>
              </a:rPr>
              <a:t>exp_scaled</a:t>
            </a:r>
            <a:r>
              <a:rPr lang="en" sz="1600" dirty="0">
                <a:latin typeface="system-ui"/>
              </a:rPr>
              <a:t>, </a:t>
            </a:r>
            <a:r>
              <a:rPr lang="en" sz="1600" dirty="0" err="1">
                <a:latin typeface="system-ui"/>
              </a:rPr>
              <a:t>workPlaces</a:t>
            </a:r>
            <a:r>
              <a:rPr lang="en" sz="1600" dirty="0">
                <a:latin typeface="system-ui"/>
              </a:rPr>
              <a:t>, latitude, longitude</a:t>
            </a:r>
            <a:r>
              <a:rPr lang="ru-RU" sz="1600" dirty="0">
                <a:latin typeface="system-ui"/>
              </a:rPr>
              <a:t>, </a:t>
            </a:r>
            <a:r>
              <a:rPr lang="en" sz="1600" dirty="0" err="1">
                <a:latin typeface="system-ui"/>
              </a:rPr>
              <a:t>premium_size</a:t>
            </a:r>
            <a:r>
              <a:rPr lang="ru-RU" sz="1600" dirty="0">
                <a:latin typeface="system-ui"/>
              </a:rPr>
              <a:t>, </a:t>
            </a:r>
            <a:r>
              <a:rPr lang="en" sz="1600" dirty="0" err="1">
                <a:latin typeface="system-ui"/>
              </a:rPr>
              <a:t>JobRole</a:t>
            </a:r>
            <a:r>
              <a:rPr lang="en" sz="1600" dirty="0">
                <a:latin typeface="system-ui"/>
              </a:rPr>
              <a:t>_</a:t>
            </a:r>
            <a:r>
              <a:rPr lang="ru-RU" sz="1600" dirty="0">
                <a:latin typeface="system-ui"/>
              </a:rPr>
              <a:t>Частичная занятость,  </a:t>
            </a:r>
            <a:r>
              <a:rPr lang="en" sz="1600" dirty="0" err="1">
                <a:latin typeface="system-ui"/>
              </a:rPr>
              <a:t>JobRole</a:t>
            </a:r>
            <a:r>
              <a:rPr lang="en" sz="1600" dirty="0">
                <a:latin typeface="system-ui"/>
              </a:rPr>
              <a:t>_</a:t>
            </a:r>
            <a:r>
              <a:rPr lang="ru-RU" sz="1600" dirty="0">
                <a:latin typeface="system-ui"/>
              </a:rPr>
              <a:t>Временная </a:t>
            </a:r>
            <a:endParaRPr lang="ru-RU" sz="1600" dirty="0">
              <a:latin typeface="HSE Sans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454B6-5DE7-28E8-1D9A-90ED685CEA97}"/>
              </a:ext>
            </a:extLst>
          </p:cNvPr>
          <p:cNvSpPr txBox="1"/>
          <p:nvPr/>
        </p:nvSpPr>
        <p:spPr>
          <a:xfrm>
            <a:off x="557537" y="5637921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dirty="0">
                <a:latin typeface="HSE Sans" panose="02000000000000000000" pitchFamily="2" charset="0"/>
              </a:rPr>
              <a:t>Best</a:t>
            </a:r>
            <a:r>
              <a:rPr lang="ru-RU" sz="1800" b="1" dirty="0">
                <a:latin typeface="HSE Sans" panose="02000000000000000000" pitchFamily="2" charset="0"/>
              </a:rPr>
              <a:t>:</a:t>
            </a:r>
            <a:r>
              <a:rPr lang="en-US" sz="1800" b="1" dirty="0">
                <a:latin typeface="HSE Sans" panose="02000000000000000000" pitchFamily="2" charset="0"/>
              </a:rPr>
              <a:t> </a:t>
            </a:r>
            <a:r>
              <a:rPr lang="ru-RU" dirty="0">
                <a:latin typeface="HSE Sans" panose="02000000000000000000" pitchFamily="2" charset="0"/>
              </a:rPr>
              <a:t>логистическая регрессия</a:t>
            </a:r>
            <a:endParaRPr lang="en" sz="1800" b="0" i="0" dirty="0"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408419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ED53D-A135-A52D-5192-AF54B20E9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4">
            <a:extLst>
              <a:ext uri="{FF2B5EF4-FFF2-40B4-BE49-F238E27FC236}">
                <a16:creationId xmlns:a16="http://schemas.microsoft.com/office/drawing/2014/main" id="{8AB25069-56F1-8A49-7769-9AAAF305190C}"/>
              </a:ext>
            </a:extLst>
          </p:cNvPr>
          <p:cNvSpPr txBox="1">
            <a:spLocks/>
          </p:cNvSpPr>
          <p:nvPr/>
        </p:nvSpPr>
        <p:spPr>
          <a:xfrm>
            <a:off x="520283" y="1220079"/>
            <a:ext cx="7617877" cy="5370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/>
              <a:t>Регрессия</a:t>
            </a:r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327E8E93-3A03-B21A-0391-E57D5E19FF8F}"/>
              </a:ext>
            </a:extLst>
          </p:cNvPr>
          <p:cNvSpPr txBox="1">
            <a:spLocks/>
          </p:cNvSpPr>
          <p:nvPr/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Исследование рынка труда школьников на основе данных о вакансиях</a:t>
            </a:r>
          </a:p>
        </p:txBody>
      </p:sp>
      <p:sp>
        <p:nvSpPr>
          <p:cNvPr id="2" name="Rounded Rectangle 3">
            <a:extLst>
              <a:ext uri="{FF2B5EF4-FFF2-40B4-BE49-F238E27FC236}">
                <a16:creationId xmlns:a16="http://schemas.microsoft.com/office/drawing/2014/main" id="{4C5E687D-DAA7-F327-F357-7CFD45F7AA37}"/>
              </a:ext>
            </a:extLst>
          </p:cNvPr>
          <p:cNvSpPr/>
          <p:nvPr/>
        </p:nvSpPr>
        <p:spPr>
          <a:xfrm>
            <a:off x="7555547" y="3116101"/>
            <a:ext cx="2560320" cy="1540198"/>
          </a:xfrm>
          <a:prstGeom prst="roundRect">
            <a:avLst/>
          </a:prstGeom>
          <a:solidFill>
            <a:srgbClr val="F5F7FA"/>
          </a:solidFill>
          <a:ln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267AEE-FC18-4B4D-7C79-3684B3F1BCD4}"/>
              </a:ext>
            </a:extLst>
          </p:cNvPr>
          <p:cNvSpPr txBox="1"/>
          <p:nvPr/>
        </p:nvSpPr>
        <p:spPr>
          <a:xfrm>
            <a:off x="7760955" y="3301043"/>
            <a:ext cx="214950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 err="1">
                <a:solidFill>
                  <a:srgbClr val="181C25"/>
                </a:solidFill>
              </a:rPr>
              <a:t>XGBoost</a:t>
            </a:r>
            <a:endParaRPr sz="2000" b="1" dirty="0">
              <a:solidFill>
                <a:srgbClr val="181C25"/>
              </a:solidFill>
            </a:endParaRPr>
          </a:p>
          <a:p>
            <a:pPr>
              <a:defRPr sz="1600">
                <a:solidFill>
                  <a:srgbClr val="2D7DD2"/>
                </a:solidFill>
              </a:defRPr>
            </a:pPr>
            <a:r>
              <a:rPr lang="en" dirty="0"/>
              <a:t>R²: 0.5433 </a:t>
            </a:r>
          </a:p>
          <a:p>
            <a:pPr>
              <a:defRPr sz="1600">
                <a:solidFill>
                  <a:srgbClr val="2D7DD2"/>
                </a:solidFill>
              </a:defRPr>
            </a:pPr>
            <a:r>
              <a:rPr lang="en" dirty="0"/>
              <a:t>RMSE: 54.18 </a:t>
            </a:r>
          </a:p>
          <a:p>
            <a:pPr>
              <a:defRPr sz="1600">
                <a:solidFill>
                  <a:srgbClr val="2D7DD2"/>
                </a:solidFill>
              </a:defRPr>
            </a:pPr>
            <a:r>
              <a:rPr lang="en" dirty="0"/>
              <a:t>MAE: 31.18</a:t>
            </a:r>
            <a:endParaRPr dirty="0"/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C6D306A0-4B60-E629-5B0C-A82678E7B865}"/>
              </a:ext>
            </a:extLst>
          </p:cNvPr>
          <p:cNvSpPr/>
          <p:nvPr/>
        </p:nvSpPr>
        <p:spPr>
          <a:xfrm>
            <a:off x="4812347" y="3116101"/>
            <a:ext cx="2560320" cy="1540198"/>
          </a:xfrm>
          <a:prstGeom prst="roundRect">
            <a:avLst/>
          </a:prstGeom>
          <a:solidFill>
            <a:srgbClr val="F5F7FA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0A1D9-E381-EFE7-6B50-1AB391A7CCE4}"/>
              </a:ext>
            </a:extLst>
          </p:cNvPr>
          <p:cNvSpPr txBox="1"/>
          <p:nvPr/>
        </p:nvSpPr>
        <p:spPr>
          <a:xfrm>
            <a:off x="5076396" y="3301043"/>
            <a:ext cx="2032221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181C25"/>
                </a:solidFill>
              </a:rPr>
              <a:t>Random Forest</a:t>
            </a:r>
            <a:endParaRPr lang="ru-RU" sz="2000" b="1" dirty="0">
              <a:solidFill>
                <a:srgbClr val="181C25"/>
              </a:solidFill>
            </a:endParaRPr>
          </a:p>
          <a:p>
            <a:pPr>
              <a:defRPr sz="1600">
                <a:solidFill>
                  <a:srgbClr val="34A853"/>
                </a:solidFill>
              </a:defRPr>
            </a:pPr>
            <a:r>
              <a:rPr lang="en" dirty="0"/>
              <a:t>R²: 0.5107 </a:t>
            </a:r>
          </a:p>
          <a:p>
            <a:pPr>
              <a:defRPr sz="1600">
                <a:solidFill>
                  <a:srgbClr val="34A853"/>
                </a:solidFill>
              </a:defRPr>
            </a:pPr>
            <a:r>
              <a:rPr lang="en" dirty="0"/>
              <a:t>RMSE: 56.08 </a:t>
            </a:r>
          </a:p>
          <a:p>
            <a:pPr>
              <a:defRPr sz="1600">
                <a:solidFill>
                  <a:srgbClr val="34A853"/>
                </a:solidFill>
              </a:defRPr>
            </a:pPr>
            <a:r>
              <a:rPr lang="en" dirty="0"/>
              <a:t>MAE: 31.09</a:t>
            </a: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517E6C5B-7D85-5DE4-08E0-C51D4699F52E}"/>
              </a:ext>
            </a:extLst>
          </p:cNvPr>
          <p:cNvSpPr/>
          <p:nvPr/>
        </p:nvSpPr>
        <p:spPr>
          <a:xfrm>
            <a:off x="2069147" y="3105900"/>
            <a:ext cx="2560320" cy="1540198"/>
          </a:xfrm>
          <a:prstGeom prst="roundRect">
            <a:avLst/>
          </a:prstGeom>
          <a:solidFill>
            <a:srgbClr val="F5F7FA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771915-BC3B-72AB-62A6-1C1701534F74}"/>
              </a:ext>
            </a:extLst>
          </p:cNvPr>
          <p:cNvSpPr txBox="1"/>
          <p:nvPr/>
        </p:nvSpPr>
        <p:spPr>
          <a:xfrm>
            <a:off x="2252027" y="3290769"/>
            <a:ext cx="222305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181C25"/>
                </a:solidFill>
              </a:rPr>
              <a:t>L</a:t>
            </a:r>
            <a:r>
              <a:rPr lang="en-US" sz="2000" b="1" dirty="0">
                <a:solidFill>
                  <a:srgbClr val="181C25"/>
                </a:solidFill>
              </a:rPr>
              <a:t>inear</a:t>
            </a:r>
            <a:r>
              <a:rPr sz="2000" b="1" dirty="0">
                <a:solidFill>
                  <a:srgbClr val="181C25"/>
                </a:solidFill>
              </a:rPr>
              <a:t> Regression</a:t>
            </a:r>
            <a:endParaRPr lang="en" sz="2000" b="1" dirty="0">
              <a:solidFill>
                <a:srgbClr val="181C25"/>
              </a:solidFill>
            </a:endParaRPr>
          </a:p>
          <a:p>
            <a:pPr>
              <a:defRPr sz="1600">
                <a:solidFill>
                  <a:srgbClr val="FBBC05"/>
                </a:solidFill>
              </a:defRPr>
            </a:pPr>
            <a:r>
              <a:rPr lang="en" dirty="0"/>
              <a:t>R²: 0.2945 </a:t>
            </a:r>
          </a:p>
          <a:p>
            <a:pPr>
              <a:defRPr sz="1600">
                <a:solidFill>
                  <a:srgbClr val="FBBC05"/>
                </a:solidFill>
              </a:defRPr>
            </a:pPr>
            <a:r>
              <a:rPr lang="en" dirty="0"/>
              <a:t>RMSE: 67.34 </a:t>
            </a:r>
          </a:p>
          <a:p>
            <a:pPr>
              <a:defRPr sz="1600">
                <a:solidFill>
                  <a:srgbClr val="FBBC05"/>
                </a:solidFill>
              </a:defRPr>
            </a:pPr>
            <a:r>
              <a:rPr lang="en" dirty="0"/>
              <a:t>MAE: 40.05</a:t>
            </a: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36097D-959E-A9C2-327C-BEC6DCD6C6A6}"/>
              </a:ext>
            </a:extLst>
          </p:cNvPr>
          <p:cNvSpPr txBox="1"/>
          <p:nvPr/>
        </p:nvSpPr>
        <p:spPr>
          <a:xfrm>
            <a:off x="400700" y="5737313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dirty="0">
                <a:latin typeface="HSE Sans" panose="02000000000000000000" pitchFamily="2" charset="0"/>
              </a:rPr>
              <a:t>Best</a:t>
            </a:r>
            <a:r>
              <a:rPr lang="ru-RU" sz="1800" b="1" dirty="0">
                <a:latin typeface="HSE Sans" panose="02000000000000000000" pitchFamily="2" charset="0"/>
              </a:rPr>
              <a:t>: </a:t>
            </a:r>
            <a:r>
              <a:rPr lang="en-US" sz="1800" dirty="0" err="1">
                <a:latin typeface="HSE Sans" panose="02000000000000000000" pitchFamily="2" charset="0"/>
              </a:rPr>
              <a:t>XGBoost</a:t>
            </a:r>
            <a:endParaRPr lang="en" sz="1800" i="0" dirty="0">
              <a:effectLst/>
              <a:latin typeface="system-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75C167-9ADA-B008-346E-3511C6A7D478}"/>
              </a:ext>
            </a:extLst>
          </p:cNvPr>
          <p:cNvSpPr txBox="1"/>
          <p:nvPr/>
        </p:nvSpPr>
        <p:spPr>
          <a:xfrm>
            <a:off x="404816" y="1597697"/>
            <a:ext cx="113753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HSE Sans" panose="02000000000000000000" pitchFamily="2" charset="0"/>
              </a:rPr>
              <a:t>Целевая переменная: </a:t>
            </a:r>
            <a:r>
              <a:rPr lang="en-US" dirty="0" err="1"/>
              <a:t>hourly_rate</a:t>
            </a:r>
            <a:r>
              <a:rPr lang="en-US" dirty="0"/>
              <a:t> </a:t>
            </a:r>
            <a:endParaRPr lang="ru-RU" dirty="0"/>
          </a:p>
          <a:p>
            <a:r>
              <a:rPr lang="ru-RU" sz="1800" dirty="0">
                <a:latin typeface="system-ui"/>
              </a:rPr>
              <a:t>Признаки: </a:t>
            </a:r>
            <a:r>
              <a:rPr lang="en" sz="1800" dirty="0" err="1">
                <a:latin typeface="system-ui"/>
              </a:rPr>
              <a:t>exp_scaled</a:t>
            </a:r>
            <a:r>
              <a:rPr lang="en" sz="1800" dirty="0">
                <a:latin typeface="system-ui"/>
              </a:rPr>
              <a:t>, </a:t>
            </a:r>
            <a:r>
              <a:rPr lang="en" sz="1800" dirty="0" err="1">
                <a:latin typeface="system-ui"/>
              </a:rPr>
              <a:t>workPlaces</a:t>
            </a:r>
            <a:r>
              <a:rPr lang="en" sz="1800" dirty="0">
                <a:latin typeface="system-ui"/>
              </a:rPr>
              <a:t>, latitude, longitude</a:t>
            </a:r>
            <a:r>
              <a:rPr lang="ru-RU" sz="1800" dirty="0">
                <a:latin typeface="system-ui"/>
              </a:rPr>
              <a:t>, </a:t>
            </a:r>
            <a:r>
              <a:rPr lang="en" sz="1800" dirty="0" err="1">
                <a:latin typeface="system-ui"/>
              </a:rPr>
              <a:t>premium_size</a:t>
            </a:r>
            <a:r>
              <a:rPr lang="ru-RU" sz="1800" dirty="0">
                <a:latin typeface="system-ui"/>
              </a:rPr>
              <a:t>, </a:t>
            </a:r>
            <a:r>
              <a:rPr lang="en" sz="1800" dirty="0" err="1">
                <a:latin typeface="system-ui"/>
              </a:rPr>
              <a:t>JobRole</a:t>
            </a:r>
            <a:r>
              <a:rPr lang="en" sz="1800" dirty="0">
                <a:latin typeface="system-ui"/>
              </a:rPr>
              <a:t>_</a:t>
            </a:r>
            <a:r>
              <a:rPr lang="ru-RU" sz="1800" dirty="0">
                <a:latin typeface="system-ui"/>
              </a:rPr>
              <a:t>Частичная занятость,  </a:t>
            </a:r>
            <a:r>
              <a:rPr lang="en" sz="1800" dirty="0" err="1">
                <a:latin typeface="system-ui"/>
              </a:rPr>
              <a:t>JobRole</a:t>
            </a:r>
            <a:r>
              <a:rPr lang="en" sz="1800" dirty="0">
                <a:latin typeface="system-ui"/>
              </a:rPr>
              <a:t>_</a:t>
            </a:r>
            <a:r>
              <a:rPr lang="ru-RU" sz="1800" dirty="0">
                <a:latin typeface="system-ui"/>
              </a:rPr>
              <a:t>Временная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3796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048F6-FFBA-FA42-BFE5-CEA81D8FC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4">
            <a:extLst>
              <a:ext uri="{FF2B5EF4-FFF2-40B4-BE49-F238E27FC236}">
                <a16:creationId xmlns:a16="http://schemas.microsoft.com/office/drawing/2014/main" id="{E0B994BF-3E73-2273-591A-893A899B4056}"/>
              </a:ext>
            </a:extLst>
          </p:cNvPr>
          <p:cNvSpPr txBox="1">
            <a:spLocks/>
          </p:cNvSpPr>
          <p:nvPr/>
        </p:nvSpPr>
        <p:spPr>
          <a:xfrm>
            <a:off x="520283" y="1220079"/>
            <a:ext cx="7617877" cy="5370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/>
              <a:t>Важность признаков </a:t>
            </a:r>
            <a:r>
              <a:rPr lang="en-US" sz="2400" dirty="0"/>
              <a:t>Random Forest</a:t>
            </a:r>
            <a:endParaRPr lang="ru-RU" sz="2400" dirty="0"/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BECA42BB-512A-279C-52DA-A7B1F63A77D4}"/>
              </a:ext>
            </a:extLst>
          </p:cNvPr>
          <p:cNvSpPr txBox="1">
            <a:spLocks/>
          </p:cNvSpPr>
          <p:nvPr/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Исследование рынка труда школьников на основе данных о вакансиях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B15BAFD-435E-FA5C-9E72-603719D9C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504" y="1557043"/>
            <a:ext cx="8584095" cy="483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408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CD939-1DCE-0ACC-CDBB-EE22A9DB1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>
            <a:extLst>
              <a:ext uri="{FF2B5EF4-FFF2-40B4-BE49-F238E27FC236}">
                <a16:creationId xmlns:a16="http://schemas.microsoft.com/office/drawing/2014/main" id="{B00B1DC5-5BF1-1F78-CD74-DDE2878815B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5788" y="1165507"/>
            <a:ext cx="11058065" cy="307778"/>
          </a:xfrm>
        </p:spPr>
        <p:txBody>
          <a:bodyPr/>
          <a:lstStyle/>
          <a:p>
            <a:r>
              <a:rPr lang="ru-RU" sz="2400" dirty="0"/>
              <a:t>Результат по гипотезам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A2C520-308A-1061-43CE-C92D57ECF1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Исследование рынка труда школьников на основе данных о вакансиях</a:t>
            </a:r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B59E77F6-B2C8-CC09-45CB-38A435B37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478874"/>
              </p:ext>
            </p:extLst>
          </p:nvPr>
        </p:nvGraphicFramePr>
        <p:xfrm>
          <a:off x="566959" y="1726153"/>
          <a:ext cx="11058066" cy="45690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802">
                  <a:extLst>
                    <a:ext uri="{9D8B030D-6E8A-4147-A177-3AD203B41FA5}">
                      <a16:colId xmlns:a16="http://schemas.microsoft.com/office/drawing/2014/main" val="3757515663"/>
                    </a:ext>
                  </a:extLst>
                </a:gridCol>
                <a:gridCol w="6677747">
                  <a:extLst>
                    <a:ext uri="{9D8B030D-6E8A-4147-A177-3AD203B41FA5}">
                      <a16:colId xmlns:a16="http://schemas.microsoft.com/office/drawing/2014/main" val="1046102616"/>
                    </a:ext>
                  </a:extLst>
                </a:gridCol>
                <a:gridCol w="2764517">
                  <a:extLst>
                    <a:ext uri="{9D8B030D-6E8A-4147-A177-3AD203B41FA5}">
                      <a16:colId xmlns:a16="http://schemas.microsoft.com/office/drawing/2014/main" val="3784908466"/>
                    </a:ext>
                  </a:extLst>
                </a:gridCol>
              </a:tblGrid>
              <a:tr h="598670">
                <a:tc>
                  <a:txBody>
                    <a:bodyPr/>
                    <a:lstStyle/>
                    <a:p>
                      <a:r>
                        <a:rPr lang="ru-RU" sz="1300" b="1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Номер гипотезы</a:t>
                      </a:r>
                      <a:endParaRPr lang="en-RU" sz="1300" b="1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Гипотеза</a:t>
                      </a:r>
                      <a:endParaRPr lang="en-RU" sz="1300" b="1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Вывод</a:t>
                      </a:r>
                      <a:endParaRPr lang="en-RU" sz="1300" b="1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016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1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 Основу рынка составляют простые рабочие профессии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Подтверждена</a:t>
                      </a:r>
                      <a:endParaRPr lang="en-RU" sz="1300" b="1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980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2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Большинство вакансий не требуют опыта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F2C68"/>
                          </a:solidFill>
                          <a:effectLst/>
                          <a:uLnTx/>
                          <a:uFillTx/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Подтверждена</a:t>
                      </a:r>
                      <a:endParaRPr kumimoji="0" lang="en-RU" sz="1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F2C68"/>
                        </a:solidFill>
                        <a:effectLst/>
                        <a:uLnTx/>
                        <a:uFillTx/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854252"/>
                  </a:ext>
                </a:extLst>
              </a:tr>
              <a:tr h="1440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Частичная занятость дает более высокую часовую ставку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F2C68"/>
                          </a:solidFill>
                          <a:effectLst/>
                          <a:uLnTx/>
                          <a:uFillTx/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Подтверждена</a:t>
                      </a:r>
                      <a:endParaRPr kumimoji="0" lang="en-RU" sz="1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F2C68"/>
                        </a:solidFill>
                        <a:effectLst/>
                        <a:uLnTx/>
                        <a:uFillTx/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144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Существует региональная дифференциация зарплат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F2C68"/>
                          </a:solidFill>
                          <a:effectLst/>
                          <a:uLnTx/>
                          <a:uFillTx/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Подтверждена</a:t>
                      </a:r>
                      <a:endParaRPr kumimoji="0" lang="en-RU" sz="1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F2C68"/>
                        </a:solidFill>
                        <a:effectLst/>
                        <a:uLnTx/>
                        <a:uFillTx/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909998"/>
                  </a:ext>
                </a:extLst>
              </a:tr>
              <a:tr h="351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Стажировки предлагают наиболее высокую оплату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ru-RU" sz="13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F2C68"/>
                          </a:solidFill>
                          <a:effectLst/>
                          <a:uLnTx/>
                          <a:uFillTx/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Отвергнута</a:t>
                      </a:r>
                      <a:endParaRPr kumimoji="0" lang="en-RU" sz="13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F2C68"/>
                        </a:solidFill>
                        <a:effectLst/>
                        <a:uLnTx/>
                        <a:uFillTx/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166627"/>
                  </a:ext>
                </a:extLst>
              </a:tr>
              <a:tr h="351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Зарплаты привязаны к МРОТ 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F2C68"/>
                          </a:solidFill>
                          <a:effectLst/>
                          <a:uLnTx/>
                          <a:uFillTx/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Подтверждена</a:t>
                      </a:r>
                      <a:endParaRPr kumimoji="0" lang="en-RU" sz="1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F2C68"/>
                        </a:solidFill>
                        <a:effectLst/>
                        <a:uLnTx/>
                        <a:uFillTx/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613863"/>
                  </a:ext>
                </a:extLst>
              </a:tr>
              <a:tr h="351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Премии и бонусы характерны для высокооплачиваемых вакансий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F2C68"/>
                          </a:solidFill>
                          <a:effectLst/>
                          <a:uLnTx/>
                          <a:uFillTx/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Отвергнута</a:t>
                      </a:r>
                      <a:endParaRPr kumimoji="0" lang="en-RU" sz="1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F2C68"/>
                        </a:solidFill>
                        <a:effectLst/>
                        <a:uLnTx/>
                        <a:uFillTx/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546100"/>
                  </a:ext>
                </a:extLst>
              </a:tr>
              <a:tr h="351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Количество рабочих мест положительно коррелирует с зарплатой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F2C68"/>
                          </a:solidFill>
                          <a:effectLst/>
                          <a:uLnTx/>
                          <a:uFillTx/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Отвергнута</a:t>
                      </a:r>
                      <a:endParaRPr kumimoji="0" lang="en-RU" sz="1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F2C68"/>
                        </a:solidFill>
                        <a:effectLst/>
                        <a:uLnTx/>
                        <a:uFillTx/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65734"/>
                  </a:ext>
                </a:extLst>
              </a:tr>
              <a:tr h="351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Вакансии с гибким графиком имеют более высокую часовую ставку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F2C68"/>
                          </a:solidFill>
                          <a:effectLst/>
                          <a:uLnTx/>
                          <a:uFillTx/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Подтверждена</a:t>
                      </a:r>
                      <a:endParaRPr kumimoji="0" lang="en-RU" sz="1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F2C68"/>
                        </a:solidFill>
                        <a:effectLst/>
                        <a:uLnTx/>
                        <a:uFillTx/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359765"/>
                  </a:ext>
                </a:extLst>
              </a:tr>
              <a:tr h="351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В восточных и северных регионах зарплаты выше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F2C68"/>
                          </a:solidFill>
                          <a:effectLst/>
                          <a:uLnTx/>
                          <a:uFillTx/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Подтверждена</a:t>
                      </a:r>
                      <a:endParaRPr kumimoji="0" lang="en-RU" sz="1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F2C68"/>
                        </a:solidFill>
                        <a:effectLst/>
                        <a:uLnTx/>
                        <a:uFillTx/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916908"/>
                  </a:ext>
                </a:extLst>
              </a:tr>
              <a:tr h="351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Требования к образованию минимальны 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F2C68"/>
                          </a:solidFill>
                          <a:effectLst/>
                          <a:uLnTx/>
                          <a:uFillTx/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Подтверждена</a:t>
                      </a:r>
                      <a:endParaRPr kumimoji="0" lang="en-RU" sz="1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F2C68"/>
                        </a:solidFill>
                        <a:effectLst/>
                        <a:uLnTx/>
                        <a:uFillTx/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579352"/>
                  </a:ext>
                </a:extLst>
              </a:tr>
              <a:tr h="351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Опыт работы является ключевым фактором, определяющим часовую ставку</a:t>
                      </a:r>
                      <a:endParaRPr lang="en-RU" sz="1300" b="0" kern="1200">
                        <a:ln>
                          <a:noFill/>
                        </a:ln>
                        <a:solidFill>
                          <a:schemeClr val="tx1"/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F2C68"/>
                          </a:solidFill>
                          <a:effectLst/>
                          <a:uLnTx/>
                          <a:uFillTx/>
                          <a:latin typeface="HSE Sans" panose="02000000000000000000" pitchFamily="2" charset="0"/>
                          <a:ea typeface="+mn-ea"/>
                          <a:cs typeface="+mn-cs"/>
                        </a:rPr>
                        <a:t>Отвергнута</a:t>
                      </a:r>
                      <a:endParaRPr kumimoji="0" lang="en-RU" sz="1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F2C68"/>
                        </a:solidFill>
                        <a:effectLst/>
                        <a:uLnTx/>
                        <a:uFillTx/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0885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9192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1B0D8-DB3F-8E1D-9372-AE2C93BEF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>
            <a:extLst>
              <a:ext uri="{FF2B5EF4-FFF2-40B4-BE49-F238E27FC236}">
                <a16:creationId xmlns:a16="http://schemas.microsoft.com/office/drawing/2014/main" id="{2F791BF4-9F40-7751-39B9-0E3FD8D4BA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5788" y="1165507"/>
            <a:ext cx="11058065" cy="307778"/>
          </a:xfrm>
        </p:spPr>
        <p:txBody>
          <a:bodyPr/>
          <a:lstStyle/>
          <a:p>
            <a:r>
              <a:rPr lang="ru-RU" sz="2400" dirty="0"/>
              <a:t>Ограничения исследования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46CB9A-DA02-6CBA-D7D9-5D9DE985ED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Исследование рынка труда школьников на основе данных о вакансиях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2DEEBB8F-AC04-5AC1-AAE1-C8D8AF54F628}"/>
              </a:ext>
            </a:extLst>
          </p:cNvPr>
          <p:cNvSpPr/>
          <p:nvPr/>
        </p:nvSpPr>
        <p:spPr>
          <a:xfrm>
            <a:off x="585788" y="1918251"/>
            <a:ext cx="347870" cy="3478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2D772D-CF40-B35D-5810-DD8D8FEEC285}"/>
              </a:ext>
            </a:extLst>
          </p:cNvPr>
          <p:cNvSpPr txBox="1"/>
          <p:nvPr/>
        </p:nvSpPr>
        <p:spPr>
          <a:xfrm>
            <a:off x="1143689" y="1906728"/>
            <a:ext cx="2701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dirty="0">
                <a:latin typeface="HSE Sans" panose="02000000000000000000" pitchFamily="2" charset="0"/>
              </a:rPr>
              <a:t>Низкое качество данных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67162AAC-F109-BCBE-39F5-1E782C0288E3}"/>
              </a:ext>
            </a:extLst>
          </p:cNvPr>
          <p:cNvSpPr/>
          <p:nvPr/>
        </p:nvSpPr>
        <p:spPr>
          <a:xfrm>
            <a:off x="585788" y="2547883"/>
            <a:ext cx="347870" cy="3478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B04E2D-392D-CBF6-5CAB-B57DF12308EA}"/>
              </a:ext>
            </a:extLst>
          </p:cNvPr>
          <p:cNvSpPr txBox="1"/>
          <p:nvPr/>
        </p:nvSpPr>
        <p:spPr>
          <a:xfrm>
            <a:off x="1143689" y="2536360"/>
            <a:ext cx="2542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dirty="0">
                <a:latin typeface="HSE Sans" panose="02000000000000000000" pitchFamily="2" charset="0"/>
              </a:rPr>
              <a:t>Один источник данных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CCC7C451-3103-64DC-4944-A31C9F9D6C2A}"/>
              </a:ext>
            </a:extLst>
          </p:cNvPr>
          <p:cNvSpPr/>
          <p:nvPr/>
        </p:nvSpPr>
        <p:spPr>
          <a:xfrm>
            <a:off x="585788" y="3205037"/>
            <a:ext cx="347870" cy="3478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4825E7-7DA6-4DD9-B40B-CBD526B93425}"/>
              </a:ext>
            </a:extLst>
          </p:cNvPr>
          <p:cNvSpPr txBox="1"/>
          <p:nvPr/>
        </p:nvSpPr>
        <p:spPr>
          <a:xfrm>
            <a:off x="1143689" y="3193514"/>
            <a:ext cx="4126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dirty="0">
                <a:latin typeface="HSE Sans" panose="02000000000000000000" pitchFamily="2" charset="0"/>
              </a:rPr>
              <a:t>Слабые модели из-за качества данных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1525CE8C-84B8-6D2B-74AF-5922EB8CB513}"/>
              </a:ext>
            </a:extLst>
          </p:cNvPr>
          <p:cNvSpPr/>
          <p:nvPr/>
        </p:nvSpPr>
        <p:spPr>
          <a:xfrm>
            <a:off x="585788" y="3883653"/>
            <a:ext cx="347870" cy="3478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34DDB1-1380-14D1-C57C-01A4D38FE8F2}"/>
              </a:ext>
            </a:extLst>
          </p:cNvPr>
          <p:cNvSpPr txBox="1"/>
          <p:nvPr/>
        </p:nvSpPr>
        <p:spPr>
          <a:xfrm>
            <a:off x="1143689" y="3872130"/>
            <a:ext cx="7092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dirty="0">
                <a:latin typeface="HSE Sans" panose="02000000000000000000" pitchFamily="2" charset="0"/>
              </a:rPr>
              <a:t>Недостаточно данных, чтобы сделать вывод о рынке труда в целом</a:t>
            </a:r>
          </a:p>
        </p:txBody>
      </p:sp>
    </p:spTree>
    <p:extLst>
      <p:ext uri="{BB962C8B-B14F-4D97-AF65-F5344CB8AC3E}">
        <p14:creationId xmlns:p14="http://schemas.microsoft.com/office/powerpoint/2010/main" val="3572167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64F22-40AC-9E5D-4532-B77C01FCE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>
            <a:extLst>
              <a:ext uri="{FF2B5EF4-FFF2-40B4-BE49-F238E27FC236}">
                <a16:creationId xmlns:a16="http://schemas.microsoft.com/office/drawing/2014/main" id="{19D4F5E9-1A81-1DBD-3488-82CD7E1633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5788" y="1165507"/>
            <a:ext cx="11058065" cy="307778"/>
          </a:xfrm>
        </p:spPr>
        <p:txBody>
          <a:bodyPr/>
          <a:lstStyle/>
          <a:p>
            <a:r>
              <a:rPr lang="ru-RU" sz="2400" dirty="0"/>
              <a:t>Дальнейшие направления исследования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6AA2C1-2F5F-7B1E-9E67-F88A99C6B9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Исследование рынка труда школьников на основе данных о вакансиях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7BB921C0-0F3A-30E1-3967-97F622A60AED}"/>
              </a:ext>
            </a:extLst>
          </p:cNvPr>
          <p:cNvSpPr/>
          <p:nvPr/>
        </p:nvSpPr>
        <p:spPr>
          <a:xfrm>
            <a:off x="585788" y="1918251"/>
            <a:ext cx="347870" cy="3478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718355-8E14-E069-C724-51DD8B3187F9}"/>
              </a:ext>
            </a:extLst>
          </p:cNvPr>
          <p:cNvSpPr txBox="1"/>
          <p:nvPr/>
        </p:nvSpPr>
        <p:spPr>
          <a:xfrm>
            <a:off x="1143689" y="1906728"/>
            <a:ext cx="5331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dirty="0">
                <a:latin typeface="HSE Sans" panose="02000000000000000000" pitchFamily="2" charset="0"/>
              </a:rPr>
              <a:t>Использование данных из нескольких источников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6A2EA9F2-E12E-3B91-08D2-41503237DED2}"/>
              </a:ext>
            </a:extLst>
          </p:cNvPr>
          <p:cNvSpPr/>
          <p:nvPr/>
        </p:nvSpPr>
        <p:spPr>
          <a:xfrm>
            <a:off x="585788" y="2898301"/>
            <a:ext cx="347870" cy="3478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0108C8-15FB-21E7-3B4E-93C3D8EEBC93}"/>
              </a:ext>
            </a:extLst>
          </p:cNvPr>
          <p:cNvSpPr txBox="1"/>
          <p:nvPr/>
        </p:nvSpPr>
        <p:spPr>
          <a:xfrm>
            <a:off x="1143689" y="2886778"/>
            <a:ext cx="4519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HSE Sans" panose="02000000000000000000" pitchFamily="2" charset="0"/>
              </a:rPr>
              <a:t>NLP </a:t>
            </a:r>
            <a:r>
              <a:rPr lang="ru-RU" dirty="0">
                <a:latin typeface="HSE Sans" panose="02000000000000000000" pitchFamily="2" charset="0"/>
              </a:rPr>
              <a:t>анализ текстового описания вакансий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882A0612-CC3C-82CD-1461-9F5046D4B7C7}"/>
              </a:ext>
            </a:extLst>
          </p:cNvPr>
          <p:cNvSpPr/>
          <p:nvPr/>
        </p:nvSpPr>
        <p:spPr>
          <a:xfrm>
            <a:off x="585788" y="3879935"/>
            <a:ext cx="347870" cy="3478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BF7F52-7CE4-70C4-E9A2-77E2D0376572}"/>
              </a:ext>
            </a:extLst>
          </p:cNvPr>
          <p:cNvSpPr txBox="1"/>
          <p:nvPr/>
        </p:nvSpPr>
        <p:spPr>
          <a:xfrm>
            <a:off x="1143689" y="3838595"/>
            <a:ext cx="3122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dirty="0">
                <a:latin typeface="HSE Sans" panose="02000000000000000000" pitchFamily="2" charset="0"/>
              </a:rPr>
              <a:t>Качественное исследование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95B97C9B-C9DC-ADF6-C603-F93B5C91252C}"/>
              </a:ext>
            </a:extLst>
          </p:cNvPr>
          <p:cNvSpPr/>
          <p:nvPr/>
        </p:nvSpPr>
        <p:spPr>
          <a:xfrm>
            <a:off x="585788" y="4843275"/>
            <a:ext cx="347870" cy="3478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9BE051-FFBF-8368-6CA8-72E37F8DE4C6}"/>
              </a:ext>
            </a:extLst>
          </p:cNvPr>
          <p:cNvSpPr txBox="1"/>
          <p:nvPr/>
        </p:nvSpPr>
        <p:spPr>
          <a:xfrm>
            <a:off x="1143689" y="4831752"/>
            <a:ext cx="403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dirty="0">
                <a:latin typeface="HSE Sans" panose="02000000000000000000" pitchFamily="2" charset="0"/>
              </a:rPr>
              <a:t>Интерактивный </a:t>
            </a:r>
            <a:r>
              <a:rPr lang="ru-RU" dirty="0" err="1">
                <a:latin typeface="HSE Sans" panose="02000000000000000000" pitchFamily="2" charset="0"/>
              </a:rPr>
              <a:t>дашборд</a:t>
            </a:r>
            <a:r>
              <a:rPr lang="ru-RU" dirty="0">
                <a:latin typeface="HSE Sans" panose="02000000000000000000" pitchFamily="2" charset="0"/>
              </a:rPr>
              <a:t> для бизнеса</a:t>
            </a:r>
          </a:p>
        </p:txBody>
      </p:sp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9B5F3BE3-EBC0-E9F4-A882-DD6A0030AC06}"/>
              </a:ext>
            </a:extLst>
          </p:cNvPr>
          <p:cNvCxnSpPr>
            <a:stCxn id="6" idx="4"/>
            <a:endCxn id="10" idx="0"/>
          </p:cNvCxnSpPr>
          <p:nvPr/>
        </p:nvCxnSpPr>
        <p:spPr>
          <a:xfrm>
            <a:off x="759723" y="2266121"/>
            <a:ext cx="0" cy="64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52CA0BB5-1082-82A9-8AC0-06C6652A42E2}"/>
              </a:ext>
            </a:extLst>
          </p:cNvPr>
          <p:cNvCxnSpPr/>
          <p:nvPr/>
        </p:nvCxnSpPr>
        <p:spPr>
          <a:xfrm>
            <a:off x="757446" y="3246171"/>
            <a:ext cx="0" cy="64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3941C750-1569-4185-D43B-E9CBAFB592A8}"/>
              </a:ext>
            </a:extLst>
          </p:cNvPr>
          <p:cNvCxnSpPr/>
          <p:nvPr/>
        </p:nvCxnSpPr>
        <p:spPr>
          <a:xfrm>
            <a:off x="752892" y="4207927"/>
            <a:ext cx="0" cy="64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798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9642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6afe77-3acb-4328-97fc-408e1bde3ecd" xsi:nil="true"/>
    <lcf76f155ced4ddcb4097134ff3c332f xmlns="9875bd71-cde8-496c-a136-433f55d5e6d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8" ma:contentTypeDescription="Создание документа." ma:contentTypeScope="" ma:versionID="1a5cfb238914476ded5970f92b127504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0adbc20d4fbdbe3247a279c1a10fa71b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0f49e2ad-b3c7-4051-b79b-59f1dbf380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1ca06070-6ad6-44db-a3bf-0d2f4389ef2b}" ma:internalName="TaxCatchAll" ma:showField="CatchAllData" ma:web="e96afe77-3acb-4328-97fc-408e1bde3e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3DAF31-D8A6-49A0-9A5D-8B2EA5B1C511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dcmitype/"/>
    <ds:schemaRef ds:uri="e96afe77-3acb-4328-97fc-408e1bde3ecd"/>
    <ds:schemaRef ds:uri="http://schemas.openxmlformats.org/package/2006/metadata/core-properties"/>
    <ds:schemaRef ds:uri="9875bd71-cde8-496c-a136-433f55d5e6d0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828536A-18C6-49CF-8D1D-F6AA6C1DA5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829</Words>
  <Application>Microsoft Macintosh PowerPoint</Application>
  <PresentationFormat>Широкоэкранный</PresentationFormat>
  <Paragraphs>229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HSE Sans</vt:lpstr>
      <vt:lpstr>system-ui</vt:lpstr>
      <vt:lpstr>Office Theme</vt:lpstr>
      <vt:lpstr>Исследование рынка труда школьников на основе данных о вакансиях</vt:lpstr>
      <vt:lpstr>Задачи исследования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Зубченко Анастасия Алексеевна</cp:lastModifiedBy>
  <cp:revision>26</cp:revision>
  <cp:lastPrinted>2021-11-11T13:08:42Z</cp:lastPrinted>
  <dcterms:created xsi:type="dcterms:W3CDTF">2021-11-11T08:52:47Z</dcterms:created>
  <dcterms:modified xsi:type="dcterms:W3CDTF">2026-06-02T15:05:24Z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  <property fmtid="{D5CDD505-2E9C-101B-9397-08002B2CF9AE}" pid="3" name="MediaServiceImageTags">
    <vt:lpwstr/>
  </property>
</Properties>
</file>